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9d5e330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9d5e330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f9d5e330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f9d5e330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f9d5e33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f9d5e33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f9d5e330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f9d5e330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f9d5e330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f9d5e330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f9d5e330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f9d5e330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ea01daed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ea01daed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f9d5e330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f9d5e330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f9d5e330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f9d5e330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347f178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347f178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eltager.no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83525" y="3542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2018-2026 and beyond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780" y="808200"/>
            <a:ext cx="3822101" cy="289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-Security BSides: The origin story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-A brief history of Security BSides Oslo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-Where we’re headed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-How to (re)organize </a:t>
            </a:r>
            <a:r>
              <a:rPr lang="en" sz="1400"/>
              <a:t>ourselves</a:t>
            </a:r>
            <a:r>
              <a:rPr lang="en" sz="1400"/>
              <a:t> for the future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BSides: The origin story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Started 2009 in Las Vegas as a more accessible, less commercial “overflow” for Blackhat/Defcon.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Now 1,200 BSides events held across 274 cities in 68…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history of BSides Oslo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2015: OsloSec Meetup started.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2018: Discussions led to action: non-profit formed to plan &amp; run a Security BSides conference in Oslo.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2019: First single-day, single-track BSides Oslo conference held at MESH for ~100 people. Sold out.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2020: Signed an agreement with a larger venue (Vulkan Arena / Pokalen), postponed due to COVID-19.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2021: Free Digital Edition to offer something to the community who had bought tickets and were waiting.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2022: Sold-out physical event for ~250 people at the new venue. Same single-day, single-track format.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2023-2026: Annual sold-out events with minor changes along the way.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team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87" y="2133475"/>
            <a:ext cx="1291100" cy="12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5788" y="2133475"/>
            <a:ext cx="1291100" cy="12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3563" y="2133475"/>
            <a:ext cx="1291100" cy="12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1338" y="2133475"/>
            <a:ext cx="1321326" cy="12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9338" y="2133475"/>
            <a:ext cx="1291100" cy="12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77113" y="2133475"/>
            <a:ext cx="1291100" cy="12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learned &amp; changed along the way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People drink a lot of soda for breakfast…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Sponsorship packages are not tax free $$$ : |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Villages are </a:t>
            </a:r>
            <a:r>
              <a:rPr lang="en" sz="2400"/>
              <a:t>cooler</a:t>
            </a:r>
            <a:r>
              <a:rPr lang="en" sz="2400"/>
              <a:t> than CTFs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People take vacation in summer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Sponsors don’t use their tickets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Buying t-shirts is better than picking them up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Order more sandwiches!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Do your due diligence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Rough a</a:t>
            </a:r>
            <a:r>
              <a:rPr lang="en"/>
              <a:t>nnual</a:t>
            </a:r>
            <a:r>
              <a:rPr lang="en"/>
              <a:t> timeline (easy mode)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19"/>
          <p:cNvCxnSpPr/>
          <p:nvPr/>
        </p:nvCxnSpPr>
        <p:spPr>
          <a:xfrm flipH="1" rot="10800000">
            <a:off x="559500" y="3420650"/>
            <a:ext cx="7581300" cy="45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9"/>
          <p:cNvCxnSpPr/>
          <p:nvPr/>
        </p:nvCxnSpPr>
        <p:spPr>
          <a:xfrm flipH="1" rot="10800000">
            <a:off x="559500" y="3063950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9"/>
          <p:cNvCxnSpPr/>
          <p:nvPr/>
        </p:nvCxnSpPr>
        <p:spPr>
          <a:xfrm flipH="1" rot="10800000">
            <a:off x="6209274" y="3063958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9"/>
          <p:cNvCxnSpPr/>
          <p:nvPr/>
        </p:nvCxnSpPr>
        <p:spPr>
          <a:xfrm flipH="1" rot="10800000">
            <a:off x="1162325" y="3063950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9"/>
          <p:cNvCxnSpPr/>
          <p:nvPr/>
        </p:nvCxnSpPr>
        <p:spPr>
          <a:xfrm flipH="1" rot="10800000">
            <a:off x="1799225" y="3063950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9"/>
          <p:cNvCxnSpPr/>
          <p:nvPr/>
        </p:nvCxnSpPr>
        <p:spPr>
          <a:xfrm flipH="1" rot="10800000">
            <a:off x="2436525" y="3059250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9"/>
          <p:cNvCxnSpPr/>
          <p:nvPr/>
        </p:nvCxnSpPr>
        <p:spPr>
          <a:xfrm flipH="1" rot="10800000">
            <a:off x="3038950" y="3063950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9"/>
          <p:cNvCxnSpPr/>
          <p:nvPr/>
        </p:nvCxnSpPr>
        <p:spPr>
          <a:xfrm flipH="1" rot="10800000">
            <a:off x="3675838" y="3063950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9"/>
          <p:cNvCxnSpPr/>
          <p:nvPr/>
        </p:nvCxnSpPr>
        <p:spPr>
          <a:xfrm flipH="1" rot="10800000">
            <a:off x="4298575" y="3063950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9"/>
          <p:cNvCxnSpPr/>
          <p:nvPr/>
        </p:nvCxnSpPr>
        <p:spPr>
          <a:xfrm flipH="1" rot="10800000">
            <a:off x="4935475" y="3059250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9"/>
          <p:cNvCxnSpPr/>
          <p:nvPr/>
        </p:nvCxnSpPr>
        <p:spPr>
          <a:xfrm flipH="1" rot="10800000">
            <a:off x="5572375" y="3063950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9"/>
          <p:cNvCxnSpPr/>
          <p:nvPr/>
        </p:nvCxnSpPr>
        <p:spPr>
          <a:xfrm flipH="1" rot="10800000">
            <a:off x="6846174" y="3054658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9"/>
          <p:cNvCxnSpPr/>
          <p:nvPr/>
        </p:nvCxnSpPr>
        <p:spPr>
          <a:xfrm flipH="1" rot="10800000">
            <a:off x="7468899" y="3054658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9"/>
          <p:cNvCxnSpPr/>
          <p:nvPr/>
        </p:nvCxnSpPr>
        <p:spPr>
          <a:xfrm flipH="1" rot="10800000">
            <a:off x="8119966" y="3068650"/>
            <a:ext cx="323700" cy="361200"/>
          </a:xfrm>
          <a:prstGeom prst="straightConnector1">
            <a:avLst/>
          </a:prstGeom>
          <a:noFill/>
          <a:ln cap="flat" cmpd="sng" w="9525">
            <a:solidFill>
              <a:srgbClr val="C3463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9"/>
          <p:cNvSpPr txBox="1"/>
          <p:nvPr/>
        </p:nvSpPr>
        <p:spPr>
          <a:xfrm>
            <a:off x="664925" y="3326800"/>
            <a:ext cx="49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Jan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1232075" y="3326800"/>
            <a:ext cx="49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Feb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939125" y="3326800"/>
            <a:ext cx="49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Mar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541550" y="3326800"/>
            <a:ext cx="49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Apr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3108700" y="3326800"/>
            <a:ext cx="52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May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3755750" y="3326800"/>
            <a:ext cx="49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Jun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4418163" y="3326800"/>
            <a:ext cx="49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Jul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5029551" y="3326800"/>
            <a:ext cx="52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Aug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5670925" y="3326800"/>
            <a:ext cx="52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Sep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6258550" y="3326800"/>
            <a:ext cx="52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Oct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6895450" y="3326800"/>
            <a:ext cx="52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Nov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7532350" y="3326800"/>
            <a:ext cx="5274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6639" y="1960123"/>
            <a:ext cx="378865" cy="2869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19"/>
          <p:cNvCxnSpPr/>
          <p:nvPr/>
        </p:nvCxnSpPr>
        <p:spPr>
          <a:xfrm rot="10800000">
            <a:off x="1151675" y="2247050"/>
            <a:ext cx="0" cy="116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9"/>
          <p:cNvSpPr txBox="1"/>
          <p:nvPr/>
        </p:nvSpPr>
        <p:spPr>
          <a:xfrm>
            <a:off x="649625" y="1944525"/>
            <a:ext cx="1004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Date / v</a:t>
            </a:r>
            <a:r>
              <a:rPr lang="en" sz="800">
                <a:solidFill>
                  <a:schemeClr val="dk2"/>
                </a:solidFill>
              </a:rPr>
              <a:t>enue </a:t>
            </a:r>
            <a:r>
              <a:rPr lang="en" sz="800">
                <a:solidFill>
                  <a:schemeClr val="dk2"/>
                </a:solidFill>
              </a:rPr>
              <a:t>announc</a:t>
            </a:r>
            <a:r>
              <a:rPr lang="en" sz="800">
                <a:solidFill>
                  <a:schemeClr val="dk2"/>
                </a:solidFill>
              </a:rPr>
              <a:t>ed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27" name="Google Shape;127;p19"/>
          <p:cNvCxnSpPr/>
          <p:nvPr/>
        </p:nvCxnSpPr>
        <p:spPr>
          <a:xfrm rot="10800000">
            <a:off x="2620888" y="2247050"/>
            <a:ext cx="0" cy="116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9"/>
          <p:cNvSpPr txBox="1"/>
          <p:nvPr/>
        </p:nvSpPr>
        <p:spPr>
          <a:xfrm>
            <a:off x="2118838" y="1942175"/>
            <a:ext cx="1004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CFP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open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29" name="Google Shape;129;p19"/>
          <p:cNvCxnSpPr/>
          <p:nvPr/>
        </p:nvCxnSpPr>
        <p:spPr>
          <a:xfrm rot="10800000">
            <a:off x="5327650" y="2247050"/>
            <a:ext cx="0" cy="116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9"/>
          <p:cNvSpPr txBox="1"/>
          <p:nvPr/>
        </p:nvSpPr>
        <p:spPr>
          <a:xfrm>
            <a:off x="4825600" y="1813150"/>
            <a:ext cx="1004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CFP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close, select &amp; contact speakers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31" name="Google Shape;131;p19"/>
          <p:cNvCxnSpPr/>
          <p:nvPr/>
        </p:nvCxnSpPr>
        <p:spPr>
          <a:xfrm rot="10800000">
            <a:off x="6816075" y="2247050"/>
            <a:ext cx="0" cy="116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 flipH="1" rot="10800000">
            <a:off x="1586000" y="2702750"/>
            <a:ext cx="4500" cy="71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 txBox="1"/>
          <p:nvPr/>
        </p:nvSpPr>
        <p:spPr>
          <a:xfrm>
            <a:off x="1190600" y="2279900"/>
            <a:ext cx="7953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</a:t>
            </a:r>
            <a:r>
              <a:rPr lang="en" sz="800">
                <a:solidFill>
                  <a:schemeClr val="dk2"/>
                </a:solidFill>
              </a:rPr>
              <a:t>ponsorship, ticket, shirt sales</a:t>
            </a:r>
            <a:r>
              <a:rPr lang="en" sz="800">
                <a:solidFill>
                  <a:schemeClr val="dk2"/>
                </a:solidFill>
              </a:rPr>
              <a:t> open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34" name="Google Shape;134;p19"/>
          <p:cNvCxnSpPr/>
          <p:nvPr/>
        </p:nvCxnSpPr>
        <p:spPr>
          <a:xfrm rot="10800000">
            <a:off x="6268429" y="2247050"/>
            <a:ext cx="0" cy="116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9"/>
          <p:cNvSpPr txBox="1"/>
          <p:nvPr/>
        </p:nvSpPr>
        <p:spPr>
          <a:xfrm>
            <a:off x="5766379" y="1948786"/>
            <a:ext cx="1004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Shirt sales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close, order shirts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36" name="Google Shape;136;p19"/>
          <p:cNvCxnSpPr/>
          <p:nvPr/>
        </p:nvCxnSpPr>
        <p:spPr>
          <a:xfrm rot="10800000">
            <a:off x="6904200" y="2715050"/>
            <a:ext cx="0" cy="700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9"/>
          <p:cNvSpPr txBox="1"/>
          <p:nvPr/>
        </p:nvSpPr>
        <p:spPr>
          <a:xfrm>
            <a:off x="6846175" y="2593100"/>
            <a:ext cx="10041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Participant feedback survey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5500725" y="2593088"/>
            <a:ext cx="1004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Publish final speaker lineup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39" name="Google Shape;139;p19"/>
          <p:cNvCxnSpPr/>
          <p:nvPr/>
        </p:nvCxnSpPr>
        <p:spPr>
          <a:xfrm rot="10800000">
            <a:off x="5565413" y="2715050"/>
            <a:ext cx="0" cy="700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9"/>
          <p:cNvCxnSpPr/>
          <p:nvPr/>
        </p:nvCxnSpPr>
        <p:spPr>
          <a:xfrm rot="10800000">
            <a:off x="6551125" y="2715050"/>
            <a:ext cx="0" cy="700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9"/>
          <p:cNvSpPr txBox="1"/>
          <p:nvPr/>
        </p:nvSpPr>
        <p:spPr>
          <a:xfrm>
            <a:off x="6049079" y="2277646"/>
            <a:ext cx="1004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Participant reminder, badge order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42" name="Google Shape;142;p19"/>
          <p:cNvCxnSpPr/>
          <p:nvPr/>
        </p:nvCxnSpPr>
        <p:spPr>
          <a:xfrm rot="10800000">
            <a:off x="7272525" y="2100350"/>
            <a:ext cx="0" cy="1315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9"/>
          <p:cNvSpPr txBox="1"/>
          <p:nvPr/>
        </p:nvSpPr>
        <p:spPr>
          <a:xfrm>
            <a:off x="7195127" y="2005739"/>
            <a:ext cx="10041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Videos published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44" name="Google Shape;144;p19"/>
          <p:cNvCxnSpPr/>
          <p:nvPr/>
        </p:nvCxnSpPr>
        <p:spPr>
          <a:xfrm rot="10800000">
            <a:off x="7830496" y="2378450"/>
            <a:ext cx="0" cy="1037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9"/>
          <p:cNvSpPr txBox="1"/>
          <p:nvPr/>
        </p:nvSpPr>
        <p:spPr>
          <a:xfrm>
            <a:off x="7751150" y="2279900"/>
            <a:ext cx="1004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Retro &amp; julebord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 (it works!)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LetsReg (formerly </a:t>
            </a:r>
            <a:r>
              <a:rPr lang="en" u="sng">
                <a:solidFill>
                  <a:schemeClr val="hlink"/>
                </a:solidFill>
                <a:hlinkClick r:id="rId3"/>
              </a:rPr>
              <a:t>Deltager.no</a:t>
            </a:r>
            <a:r>
              <a:rPr lang="en"/>
              <a:t>) - ticket sales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Ryan’s Google - Storage, meetings, CFP form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Trello - CFP mgmt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Zapier - Automation of CFP submit confirmation &amp; Trello card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Domeneshop - webmail &amp; registrar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Github - Webhost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Conta - Invoicing (used to be free, isn’t anymore… shocker)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Signal - Comms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Socials…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Vulkan Arena - Venue, catering, sound, security, bartenders,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Other vendors - shirts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it’s time to make the leap to a new venue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-We are selling out earlier each year with more requests for waiting list.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-The downstairs social / chill zone + sponsor area + breakfast / lunch room + village space is too crowded and limits our ability to increase participation.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-Villages are extremely popular with our community and could use much more space.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-Would be our biggest change to date–an opportunity to “relaunch” and really freshen things up.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-A “proper” conference venue (probably) gives more flexibility for the future.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-We have </a:t>
            </a:r>
            <a:r>
              <a:rPr lang="en" sz="1400"/>
              <a:t>accumulated</a:t>
            </a:r>
            <a:r>
              <a:rPr lang="en" sz="1400"/>
              <a:t> a (small) buffer in case things don’t go as planned.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going to a new venue</a:t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-Initial assessment of options in early 2025 suggests significant cost increase to move to a larger venue (~50-100%).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-Will require a rework of sponsor packages, pricing and/or sales.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-Will require more people.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-No perfect venue for the event as we’ve run it in the past.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 structure / re-org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-board/org committee + venue search committee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-org committee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-other?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